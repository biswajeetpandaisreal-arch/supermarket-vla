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task is three hard problems at once; VLAs promise all three in one model, but they're large — which sets up the hardware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“It reads and looks, then acts.” Freeze backbone, train only the action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supermarket project exists: huge model works but won't deploy; small models fail on the hard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VLA recipe across three robots: the huge model on RoboCasa (undeployable), the UR10e pilot where small models finally worked, and the supermarket VLA it led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Methodology over model: fixing metrics and data drove the biggest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Custom-built store scene. The 3-camera setup matters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images + the text instruction are the ENTIRE input to SmolVLA.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expert only teaches; at run time the neural net drives.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language variety — that's what makes it language-conditioned.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VLA fits 12 GB by freezing perception.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slide. Say 80%, then show it's rigorously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milk — acknowledging the weak spot builds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strong narrative arc — diagnosed rather than blindly retrained.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proves language grounding.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checkpoint first, then the choice. Select by what the robot does, not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“wow” slide. The sparkline is the network's intention.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end-to-end product. A short screen recording works well here if presenting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Enlarged closed-loop rollout filmstrip: SmolVLA reaching to grasp and place each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limits builds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roadmap — this is Part A of a two-VLA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Circle back to the opening question and the headline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508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64592" cy="301752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040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3300" b="1">
                <a:solidFill>
                  <a:srgbClr val="FFFFFF"/>
                </a:solidFill>
              </a:rPr>
              <a:t>Mobile Manipulator Grasping of Everyday Objects Using Vision–Language–Action (VLA)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8A97A6"/>
                </a:solidFill>
              </a:rPr>
              <a:t>by </a:t>
            </a:r>
            <a:r>
              <a:rPr sz="1800" b="1">
                <a:solidFill>
                  <a:srgbClr val="FFFFFF"/>
                </a:solidFill>
              </a:rPr>
              <a:t>Biswajeet Panda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8A97A6"/>
                </a:solidFill>
              </a:rPr>
              <a:t>Supervisors:  </a:t>
            </a:r>
            <a:r>
              <a:rPr sz="1500">
                <a:solidFill>
                  <a:srgbClr val="17B3A3"/>
                </a:solidFill>
              </a:rPr>
              <a:t>Dr Gilbert Tang   ·   Prof Phil Webb</a:t>
            </a:r>
          </a:p>
        </p:txBody>
      </p:sp>
      <p:pic>
        <p:nvPicPr>
          <p:cNvPr id="7" name="Picture 6" descr="robot_hero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25880"/>
            <a:ext cx="3429000" cy="3429000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66928" cy="566928"/>
          </a:xfrm>
          <a:prstGeom prst="round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98755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>
                <a:solidFill>
                  <a:srgbClr val="303E4E"/>
                </a:solidFill>
              </a:rPr>
              <a:t>Motivation &amp; the 12 GB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50008"/>
            <a:ext cx="566928" cy="566928"/>
          </a:xfrm>
          <a:prstGeom prst="round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50008"/>
            <a:ext cx="98755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>
                <a:solidFill>
                  <a:srgbClr val="303E4E"/>
                </a:solidFill>
              </a:rPr>
              <a:t>What is a VLA?  (SmolVLA)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08376"/>
            <a:ext cx="566928" cy="566928"/>
          </a:xfrm>
          <a:prstGeom prst="round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08376"/>
            <a:ext cx="98755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>
                <a:solidFill>
                  <a:srgbClr val="303E4E"/>
                </a:solidFill>
              </a:rPr>
              <a:t>The road here:  RoboCasa → UR10e → Supermarket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66744"/>
            <a:ext cx="566928" cy="566928"/>
          </a:xfrm>
          <a:prstGeom prst="round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66744"/>
            <a:ext cx="98755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>
                <a:solidFill>
                  <a:srgbClr val="303E4E"/>
                </a:solidFill>
              </a:rPr>
              <a:t>System, data &amp;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25112"/>
            <a:ext cx="566928" cy="566928"/>
          </a:xfrm>
          <a:prstGeom prst="round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25112"/>
            <a:ext cx="98755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>
                <a:solidFill>
                  <a:srgbClr val="303E4E"/>
                </a:solidFill>
              </a:rPr>
              <a:t>Results &amp; rigorous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83480"/>
            <a:ext cx="566928" cy="566928"/>
          </a:xfrm>
          <a:prstGeom prst="round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83480"/>
            <a:ext cx="98755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>
                <a:solidFill>
                  <a:srgbClr val="303E4E"/>
                </a:solidFill>
              </a:rPr>
              <a:t>Seeing the model “think” + shopping-list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641848"/>
            <a:ext cx="566928" cy="566928"/>
          </a:xfrm>
          <a:prstGeom prst="round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41848"/>
            <a:ext cx="98755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>
                <a:solidFill>
                  <a:srgbClr val="303E4E"/>
                </a:solidFill>
              </a:rPr>
              <a:t>Limitations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03E4E"/>
                </a:solidFill>
              </a:rPr>
              <a:t>Picking items from a shopping list means solving three hard problems — at the same time: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3454298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34542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17B3A3"/>
                </a:solidFill>
              </a:rPr>
              <a:t>PERCEPTION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9989" y="3273552"/>
            <a:ext cx="1280160" cy="381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299709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>
                <a:solidFill>
                  <a:srgbClr val="303E4E"/>
                </a:solidFill>
              </a:rPr>
              <a:t>See and identify the right item on a cluttered shelf.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2468880"/>
            <a:ext cx="3454298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2743200"/>
            <a:ext cx="34542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1B304C"/>
                </a:solidFill>
              </a:rPr>
              <a:t>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55767" y="3273552"/>
            <a:ext cx="1280160" cy="38100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3474720"/>
            <a:ext cx="299709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>
                <a:solidFill>
                  <a:srgbClr val="303E4E"/>
                </a:solidFill>
              </a:rPr>
              <a:t>Understand which item the request is actually asking for.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4476" y="2468880"/>
            <a:ext cx="3454298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4476" y="2743200"/>
            <a:ext cx="34542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F08A24"/>
                </a:solidFill>
              </a:rPr>
              <a:t>MANIPULATION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1545" y="3273552"/>
            <a:ext cx="1280160" cy="381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3474720"/>
            <a:ext cx="299709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>
                <a:solidFill>
                  <a:srgbClr val="303E4E"/>
                </a:solidFill>
              </a:rPr>
              <a:t>Grasp it and place it cleanly in the basket.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7492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22239"/>
                </a:solidFill>
              </a:rPr>
              <a:t>Vision-Language-Action (VLA) models promise all three in one network</a:t>
            </a:r>
            <a:r>
              <a:rPr sz="1900">
                <a:solidFill>
                  <a:srgbClr val="303E4E"/>
                </a:solidFill>
              </a:rPr>
              <a:t> — but they're large.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What is a VLA?  And what is SmolVLA?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VLA = one neural network: images + a language instruction in, robot actions out — no hand-coded perception/planning/control stack.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SmolVLA: a compact (~450M-param) open VLA (Hugging Face LeRobot), built for modest hardware — the reason it fits 12 GB.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Architecture — two parts: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8A97A6"/>
                </a:solidFill>
              </a:rPr>
              <a:t>        –   </a:t>
            </a:r>
            <a:r>
              <a:rPr sz="1400">
                <a:solidFill>
                  <a:srgbClr val="8A97A6"/>
                </a:solidFill>
              </a:rPr>
              <a:t>VLM backbone (SmolVLM2-500M): encodes images + instruction into features — WE FREEZE THIS.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8A97A6"/>
                </a:solidFill>
              </a:rPr>
              <a:t>        –   </a:t>
            </a:r>
            <a:r>
              <a:rPr sz="1400">
                <a:solidFill>
                  <a:srgbClr val="8A97A6"/>
                </a:solidFill>
              </a:rPr>
              <a:t>Action expert (flow-matching): features + arm state → a 50-step action chunk — WE TRAIN ONLY THIS.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Runs closed-loop: observe → encode → predict 50-step plan → execute → re-plan.</a:t>
            </a:r>
          </a:p>
        </p:txBody>
      </p:sp>
      <p:pic>
        <p:nvPicPr>
          <p:cNvPr id="7" name="Picture 6" descr="smolvla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63993"/>
            <a:ext cx="4647895" cy="2198694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The Road Here: from a Kitchen Benchmark to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Started with RoboCasa — a Franka Panda + Omron mobile robot doing kitchen tasks (pick → cabinet) in MuJoCo.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RoboCasa's benchmark model is NVIDIA GR00T N1.6 — multi-billion params: strong (54% zero-shot) but far too large for 12 GB.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Deployable small models on the same tasks — SmolVLA, ACT, Pi0 — couldn't do it: SmolVLA 0/20, ACT 0/20.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Decision: step back to a simpler, controlled task — then scale the lessons up.</a:t>
            </a:r>
          </a:p>
        </p:txBody>
      </p:sp>
      <p:pic>
        <p:nvPicPr>
          <p:cNvPr id="7" name="Picture 6" descr="journey_prior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872125"/>
            <a:ext cx="4647895" cy="1982429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Three Robots, One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6</a:t>
            </a:r>
          </a:p>
        </p:txBody>
      </p:sp>
      <p:pic>
        <p:nvPicPr>
          <p:cNvPr id="6" name="Picture 5" descr="prog_roboca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" y="2065696"/>
            <a:ext cx="3154680" cy="2315128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32307" y="479145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122239"/>
                </a:solidFill>
              </a:rPr>
              <a:t>RoboCasa · GR00T N1.6</a:t>
            </a:r>
          </a:p>
          <a:p>
            <a:pPr algn="ctr"/>
            <a:r>
              <a:rPr sz="1300">
                <a:solidFill>
                  <a:srgbClr val="C62828"/>
                </a:solidFill>
              </a:rPr>
              <a:t>small models: 0/20</a:t>
            </a:r>
          </a:p>
        </p:txBody>
      </p:sp>
      <p:pic>
        <p:nvPicPr>
          <p:cNvPr id="8" name="Picture 7" descr="prog_ur1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208" y="1783080"/>
            <a:ext cx="2567277" cy="2880360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518507" y="479145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122239"/>
                </a:solidFill>
              </a:rPr>
              <a:t>UR10e pilot (MuJoCo)</a:t>
            </a:r>
          </a:p>
          <a:p>
            <a:pPr algn="ctr"/>
            <a:r>
              <a:rPr sz="1300">
                <a:solidFill>
                  <a:srgbClr val="F08A24"/>
                </a:solidFill>
              </a:rPr>
              <a:t>SmolVLA ~53%</a:t>
            </a:r>
          </a:p>
        </p:txBody>
      </p:sp>
      <p:pic>
        <p:nvPicPr>
          <p:cNvPr id="10" name="Picture 9" descr="robot_hero_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867" y="1783080"/>
            <a:ext cx="2880360" cy="2880360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8404707" y="479145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122239"/>
                </a:solidFill>
              </a:rPr>
              <a:t>Supermarket VLA · this work</a:t>
            </a:r>
          </a:p>
          <a:p>
            <a:pPr algn="ctr"/>
            <a:r>
              <a:rPr sz="1300">
                <a:solidFill>
                  <a:srgbClr val="2E7D32"/>
                </a:solidFill>
              </a:rPr>
              <a:t>SmolVLA 80%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23563" y="2912364"/>
            <a:ext cx="658368" cy="621792"/>
          </a:xfrm>
          <a:prstGeom prst="rightArrow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9243" y="2455164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8A97A6"/>
                </a:solidFill>
              </a:rPr>
              <a:t>too big to deploy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09763" y="2912364"/>
            <a:ext cx="658368" cy="621792"/>
          </a:xfrm>
          <a:prstGeom prst="rightArrow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5443" y="2455164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8A97A6"/>
                </a:solidFill>
              </a:rPr>
              <a:t>lessons applied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The UR10e Pilot: What It Taught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5855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Simplified to a MuJoCo UR10e + Robotiq gripper: pick a cube from 5 positions → basket. ACT vs SmolVLA.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Small models CAN learn a controlled task: ACT ~47% placed, SmolVLA ~53% placed.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Three lessons — carried straight into the supermarket VLA: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8A97A6"/>
                </a:solidFill>
              </a:rPr>
              <a:t>        –   </a:t>
            </a:r>
            <a:r>
              <a:rPr sz="1400">
                <a:solidFill>
                  <a:srgbClr val="8A97A6"/>
                </a:solidFill>
              </a:rPr>
              <a:t>Fix the success metric — a bug inflated 80% → a real 40%; measure actual release.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8A97A6"/>
                </a:solidFill>
              </a:rPr>
              <a:t>        –   </a:t>
            </a:r>
            <a:r>
              <a:rPr sz="1400">
                <a:solidFill>
                  <a:srgbClr val="8A97A6"/>
                </a:solidFill>
              </a:rPr>
              <a:t>Data variety &gt; volume — duplicated demos taught nothing.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8A97A6"/>
                </a:solidFill>
              </a:rPr>
              <a:t>        –   </a:t>
            </a:r>
            <a:r>
              <a:rPr sz="1400">
                <a:solidFill>
                  <a:srgbClr val="8A97A6"/>
                </a:solidFill>
              </a:rPr>
              <a:t>Freeze the backbone — fully unfreezing vision blew the 12 GB budget.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These lessons → applied in the supermarket VLA → 80%.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Simulator: MuJoCo (headless GPU rendering)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Robot: Omron LD-60 mobile base + UR10e arm + Robotiq 2-finger gripper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Products: real textured grocery meshes (milk, cola, bread, water bottle)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3 cameras: wrist (eye-in-hand) · scene (shelf-facing) · basket (drop target)</a:t>
            </a:r>
          </a:p>
        </p:txBody>
      </p:sp>
      <p:pic>
        <p:nvPicPr>
          <p:cNvPr id="7" name="Picture 6" descr="robot_and_she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39392"/>
            <a:ext cx="4647895" cy="4647895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What the Robot Sees — Three Camera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585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The policy acts from three synchronized views every step — plus the instruction: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8A97A6"/>
                </a:solidFill>
              </a:rPr>
              <a:t>        –   </a:t>
            </a:r>
            <a:r>
              <a:rPr sz="1400">
                <a:solidFill>
                  <a:srgbClr val="8A97A6"/>
                </a:solidFill>
              </a:rPr>
              <a:t>Wrist (eye-in-hand): close-up of the gripper and the item being grasped.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8A97A6"/>
                </a:solidFill>
              </a:rPr>
              <a:t>        –   </a:t>
            </a:r>
            <a:r>
              <a:rPr sz="1400">
                <a:solidFill>
                  <a:srgbClr val="8A97A6"/>
                </a:solidFill>
              </a:rPr>
              <a:t>Scene (shelf-facing): the whole aisle — which items are where.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8A97A6"/>
                </a:solidFill>
              </a:rPr>
              <a:t>        –   </a:t>
            </a:r>
            <a:r>
              <a:rPr sz="1400">
                <a:solidFill>
                  <a:srgbClr val="8A97A6"/>
                </a:solidFill>
              </a:rPr>
              <a:t>Basket (drop target): added so it can see exactly where to drop.</a:t>
            </a:r>
          </a:p>
        </p:txBody>
      </p:sp>
      <p:pic>
        <p:nvPicPr>
          <p:cNvPr id="7" name="Picture 6" descr="camera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638" y="2926080"/>
            <a:ext cx="9212419" cy="3429000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Approach: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Scripted expert → demos → fine-tune SmolVLA → closed-loop evaluation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Scripted expert = a hand-coded “teacher” using inverse kinematics; generates clean pick-place demos.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SmolVLA learns to imitate — but conditioned on language + vision.</a:t>
            </a:r>
          </a:p>
        </p:txBody>
      </p:sp>
      <p:pic>
        <p:nvPicPr>
          <p:cNvPr id="7" name="Picture 6" descr="pickplace_cola_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20379"/>
            <a:ext cx="4647895" cy="3485921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240 demonstrations (60 per item × 4 items), only successful episodes kept.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Each frame: 3 camera images + arm state + action + a language instruction.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~20 instruction paraphrases so it keys off meaning, not one sentence.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Per-episode position jitter for variety.</a:t>
            </a:r>
          </a:p>
        </p:txBody>
      </p:sp>
      <p:pic>
        <p:nvPicPr>
          <p:cNvPr id="7" name="Picture 6" descr="datase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022" y="1371600"/>
            <a:ext cx="3737610" cy="4983480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Training on 12 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5855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Fine-tuned from smolvla_base (pretrained on community robot data).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Froze the vision-language backbone, trained only the action head → fits in ~3 GB, no overfitting.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Why it works: the backbone already sees and reads; we only teach how this robot acts.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Batch 8 · 20k steps · ~4 h · RTX A2000 12 GB.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Headline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80% task-completion rate — reads instruction → picks the named item → lands it in the basket.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95% confidence interval: 70–87% (Wilson) · grasp success 92.5%.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Measured over 320 closed-loop trials — not a lucky demo.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8A97A6"/>
                </a:solidFill>
              </a:rPr>
              <a:t>        –   </a:t>
            </a:r>
            <a:r>
              <a:rPr sz="1400">
                <a:solidFill>
                  <a:srgbClr val="8A97A6"/>
                </a:solidFill>
              </a:rPr>
              <a:t>Confidence interval = the range the true rate very likely sits in.</a:t>
            </a:r>
          </a:p>
        </p:txBody>
      </p:sp>
      <p:pic>
        <p:nvPicPr>
          <p:cNvPr id="7" name="Picture 6" descr="per_item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439535"/>
            <a:ext cx="4647895" cy="2847610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Results per Item (best checkpoint)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Three of four items complete ≥75%; two at ≥90%. Milk is the weak point.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All with Wilson 95% CIs, 20 trials each.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0" y="2194560"/>
          <a:ext cx="4647894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298"/>
                <a:gridCol w="1549298"/>
                <a:gridCol w="1549298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Grasp</a:t>
                      </a:r>
                    </a:p>
                  </a:txBody>
                  <a:tcPr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In basket</a:t>
                      </a:r>
                    </a:p>
                  </a:txBody>
                  <a:tcPr>
                    <a:solidFill>
                      <a:srgbClr val="1B30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Cola can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Water bottle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Loaf of bread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Milk carton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03E4E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From 0% to 80%: 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First policy: 0% placement — but it grasped, carried, and lowered items to within ~2 cm of the basket.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Diagnosis: near-misses, not broken understanding — dropped ~10 cm short + didn't cleanly stop.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Three targeted fixes: clean episode boundaries, a dedicated basket camera, a wider tote.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Result: 0% → 80%.</a:t>
            </a:r>
          </a:p>
        </p:txBody>
      </p:sp>
      <p:pic>
        <p:nvPicPr>
          <p:cNvPr id="7" name="Picture 6" descr="basket_vi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3200"/>
            <a:ext cx="4647895" cy="2323947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  <p:pic>
        <p:nvPicPr>
          <p:cNvPr id="8" name="Picture 7" descr="basket_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029532"/>
            <a:ext cx="4647895" cy="2323947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It Genuinely Understands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5855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Same scene, change only the instruction → the arm reaches the named item.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“milk” → left · “bread” → center · “water bottle” → right (matches each item's position).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Not “grab the nearest” — it's reading the words.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Which Model Do We Keep?  (checkpoint selection)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A “checkpoint” = a saved snapshot during training. 20k steps, saved every 5k → 4 versions (5k/10k/15k/20k), like save-points.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We can only deploy one, so we had to choose which snapshot to keep.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How we chose: ran the robot with each of the 4 and measured actual task success — NOT the loss curve.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15k was best (80%); the final 20k was worse (75%) — it over-trained.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So we selected 15k. Picking by loss would have shipped the worse robot.</a:t>
            </a:r>
          </a:p>
        </p:txBody>
      </p:sp>
      <p:pic>
        <p:nvPicPr>
          <p:cNvPr id="7" name="Picture 6" descr="checkpoint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439535"/>
            <a:ext cx="4647895" cy="2847610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Seeing the VLA “Think”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SmolVLA plans 50 steps ahead — we surface its own predicted action plan live.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At the first frame it has already decided to close the gripper at +16 steps — it plans the grasp before reaching the item.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Honest interpretability: the plan is the model's real output, not a heuristic.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2468880"/>
            <a:ext cx="4647895" cy="1737360"/>
          </a:xfrm>
          <a:prstGeom prst="rect">
            <a:avLst/>
          </a:prstGeom>
          <a:solidFill>
            <a:srgbClr val="1222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2606040"/>
            <a:ext cx="4282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FF3E9"/>
                </a:solidFill>
                <a:latin typeface="Consolas"/>
              </a:rPr>
              <a:t>grip plan : ················██████████████████</a:t>
            </a:r>
          </a:p>
          <a:p>
            <a:r>
              <a:rPr sz="1200">
                <a:solidFill>
                  <a:srgbClr val="9FF3E9"/>
                </a:solidFill>
                <a:latin typeface="Consolas"/>
              </a:rPr>
              <a:t>intent    : CLOSE -&gt; grasp at +16</a:t>
            </a:r>
          </a:p>
          <a:p>
            <a:r>
              <a:rPr sz="1200">
                <a:solidFill>
                  <a:srgbClr val="9FF3E9"/>
                </a:solidFill>
                <a:latin typeface="Consolas"/>
              </a:rPr>
              <a:t>(· = open   █ = closed)</a:t>
            </a:r>
          </a:p>
          <a:p>
            <a:r>
              <a:rPr sz="1200">
                <a:solidFill>
                  <a:srgbClr val="9FF3E9"/>
                </a:solidFill>
                <a:latin typeface="Consolas"/>
              </a:rPr>
              <a:t>the model's own 50-step plan at frame 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Following a Shopping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Type a list from a menu → robot collects each item in order, basket accumulates.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Deterministic menu (numbers or names) — reliable, no brittle text guessing.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Retry-on-miss re-attempts a dropped item.</a:t>
            </a:r>
          </a:p>
        </p:txBody>
      </p:sp>
      <p:pic>
        <p:nvPicPr>
          <p:cNvPr id="7" name="Picture 6" descr="roll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01366"/>
            <a:ext cx="4647895" cy="2323947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Closed-Loop Rollout — the Policy Collecting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20</a:t>
            </a:r>
          </a:p>
        </p:txBody>
      </p:sp>
      <p:pic>
        <p:nvPicPr>
          <p:cNvPr id="6" name="Picture 5" descr="roll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508760"/>
            <a:ext cx="9418320" cy="4709160"/>
          </a:xfrm>
          <a:prstGeom prst="rect">
            <a:avLst/>
          </a:prstGeom>
          <a:ln w="12700">
            <a:solidFill>
              <a:srgbClr val="DDE3E9"/>
            </a:solidFill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Honest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5855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Milk is the weakest item (60%) — recoverable with milk-specific tuning / more data.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Multi-item lists are less reliable than single picks: a full basket is a view the policy never saw in training. First item is always solid.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Cereal excluded — grip slips on the wide box.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5855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Stage 2 — Navigation VLA: drive the base between shelves in a store with moving, colliding shoppers.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Orchestrator: loop the full list — navigate → pick → place → deliver.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Optional: small retrain with non-empty baskets to make multi-item lists fully reliable.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0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76200"/>
          </a:xfrm>
          <a:prstGeom prst="rect">
            <a:avLst/>
          </a:prstGeom>
          <a:solidFill>
            <a:srgbClr val="17B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4652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A97A6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5855" cy="4983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A capable VLA fine-tuned and run on a single 12 GB GPU — proven possible on modest hardware.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80% task completion, rigorously measured (320 trials, Wilson CIs, success-based selection).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Genuine language grounding + a window into the model's plan.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7B3A3"/>
                </a:solidFill>
              </a:rPr>
              <a:t>▪   </a:t>
            </a:r>
            <a:r>
              <a:rPr sz="1800">
                <a:solidFill>
                  <a:srgbClr val="303E4E"/>
                </a:solidFill>
              </a:rPr>
              <a:t>End-to-end: language → shopping list → collected.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